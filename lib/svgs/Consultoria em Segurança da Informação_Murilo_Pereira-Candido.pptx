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Exo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 Medium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49FF14-A9BF-43D5-9BBF-EF58DD56BC19}">
  <a:tblStyle styleId="{1749FF14-A9BF-43D5-9BBF-EF58DD56BC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C6524B9-8A6D-4AEC-AD6C-FFA75EA17D4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font" Target="fonts/Poppins-bold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ExoMedium-bold.fntdata"/><Relationship Id="rId23" Type="http://schemas.openxmlformats.org/officeDocument/2006/relationships/font" Target="fonts/Ex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xoMedium-boldItalic.fntdata"/><Relationship Id="rId25" Type="http://schemas.openxmlformats.org/officeDocument/2006/relationships/font" Target="fonts/Exo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italic.fntdata"/><Relationship Id="rId10" Type="http://schemas.openxmlformats.org/officeDocument/2006/relationships/slide" Target="slides/slide4.xml"/><Relationship Id="rId32" Type="http://schemas.openxmlformats.org/officeDocument/2006/relationships/font" Target="fonts/UrbanistMedium-bold.fntdata"/><Relationship Id="rId13" Type="http://schemas.openxmlformats.org/officeDocument/2006/relationships/slide" Target="slides/slide7.xml"/><Relationship Id="rId35" Type="http://schemas.openxmlformats.org/officeDocument/2006/relationships/font" Target="fonts/Urbanist-regular.fntdata"/><Relationship Id="rId12" Type="http://schemas.openxmlformats.org/officeDocument/2006/relationships/slide" Target="slides/slide6.xml"/><Relationship Id="rId34" Type="http://schemas.openxmlformats.org/officeDocument/2006/relationships/font" Target="fonts/Urbanist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Urbanist-italic.fntdata"/><Relationship Id="rId14" Type="http://schemas.openxmlformats.org/officeDocument/2006/relationships/slide" Target="slides/slide8.xml"/><Relationship Id="rId36" Type="http://schemas.openxmlformats.org/officeDocument/2006/relationships/font" Target="fonts/Urbanist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Urbanist-boldItalic.fntdata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53d5c823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453d5c823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453d5c823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53d5c823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453d5c823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53d5c8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453d5c8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imagem">
  <p:cSld name="Título e imagem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D8EAF8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-1" y="6786000"/>
            <a:ext cx="12192000" cy="72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-1" y="0"/>
            <a:ext cx="12192000" cy="72000"/>
          </a:xfrm>
          <a:prstGeom prst="rect">
            <a:avLst/>
          </a:prstGeom>
          <a:solidFill>
            <a:srgbClr val="F37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511270" y="341098"/>
            <a:ext cx="108651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A5E"/>
              </a:buClr>
              <a:buSzPts val="3400"/>
              <a:buFont typeface="Exo Medium"/>
              <a:buNone/>
              <a:defRPr b="1" i="0" sz="3400" u="none" cap="none" strike="noStrike">
                <a:solidFill>
                  <a:srgbClr val="103A5E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ertura">
  <p:cSld name="Abertura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070919" y="1021492"/>
            <a:ext cx="10091400" cy="5025000"/>
          </a:xfrm>
          <a:prstGeom prst="rect">
            <a:avLst/>
          </a:prstGeom>
          <a:noFill/>
          <a:ln cap="flat" cmpd="sng" w="38100">
            <a:solidFill>
              <a:srgbClr val="F3704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1491049" y="1952368"/>
            <a:ext cx="9382800" cy="3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ert.br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15"/>
          <p:cNvGraphicFramePr/>
          <p:nvPr/>
        </p:nvGraphicFramePr>
        <p:xfrm>
          <a:off x="2032000" y="2671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{1749FF14-A9BF-43D5-9BBF-EF58DD56BC19}</a:tableStyleId>
              </a:tblPr>
              <a:tblGrid>
                <a:gridCol w="2200275"/>
                <a:gridCol w="5927725"/>
              </a:tblGrid>
              <a:tr h="57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Disciplina: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Gestão de Sistemas de Informação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3A5E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103A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Observação: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Siga as instruções disponibilizadas no desafio para preencher os slides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A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Aluno: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Murilo Pereira Candido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511270" y="341098"/>
            <a:ext cx="108651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A5E"/>
              </a:buClr>
              <a:buSzPts val="3400"/>
              <a:buFont typeface="Exo Medium"/>
              <a:buNone/>
            </a:pPr>
            <a:r>
              <a:rPr lang="en-US">
                <a:latin typeface="Exo Medium"/>
                <a:ea typeface="Exo Medium"/>
                <a:cs typeface="Exo Medium"/>
                <a:sym typeface="Exo Medium"/>
              </a:rPr>
              <a:t>Instruções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762001" y="1454728"/>
            <a:ext cx="103563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cumprir o desafio, siga este passo a passo: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Em uma reunião de gestores de sua empresa, os diretores apresentam preocupações sobre segurança em SI, e o assunto acaba por determinar uma nova tarefa: esclarecer os problemas mais comuns de segurança da informação e tecnologias ou mecanismos utilizados pelas empresas para proteção digital. Considere que você foi convidado pela diretoria de sua empresa para elaborar um breve estudo em formato de consultoria interna e uma rápida apresentação sobre os principais problemas relacionados à segurança em SI. 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Elabore uma apresentação em formato de </a:t>
            </a:r>
            <a:r>
              <a:rPr i="1"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pitch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 para a diretoria contextualizando os problemas e mecanismos de solução, para que a empresa possa investir em melhoria na proteção e segurança de seus SI.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Acesse o site do CERT (Centro de Estudos, resposta e tratamento de incidentes de segurança no Brasil). Disponível em: </a:t>
            </a:r>
            <a:r>
              <a:rPr lang="en-US" sz="2000" u="sng">
                <a:solidFill>
                  <a:schemeClr val="hlink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  <a:hlinkClick r:id="rId3"/>
              </a:rPr>
              <a:t>https://www.cert.br/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 Acesso em: 08 abr. 2026). Em seguida, faça uma análise textual das estatísticas sobre os incidentes reportados referentes à segurança da informação.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511270" y="341098"/>
            <a:ext cx="108651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3A5E"/>
              </a:buClr>
              <a:buSzPts val="3400"/>
              <a:buFont typeface="Exo Medium"/>
              <a:buNone/>
            </a:pPr>
            <a:r>
              <a:rPr lang="en-US">
                <a:latin typeface="Exo Medium"/>
                <a:ea typeface="Exo Medium"/>
                <a:cs typeface="Exo Medium"/>
                <a:sym typeface="Exo Medium"/>
              </a:rPr>
              <a:t>Instruções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762001" y="1304637"/>
            <a:ext cx="103563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Avalie e apresente três tipos de incidentes mais comuns e de maior impacto dentro dos SI e elenque os tipos de ataques reportados no ano de 2019 ou 2020 (conforme disponibilidade de dados).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Faça uma pesquisa em sites de empresas especializadas em segurança da informação (também chamada de segurança digital ou segurança cibernética) para conhecer as tecnologias de proteção a sistemas de informações: senhas, criptografia, </a:t>
            </a:r>
            <a:r>
              <a:rPr i="1"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firewall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 e sistemas de detecção de intrusos.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Elabore uma breve apresentação com pelo menos 4 slides (no máximo 8) sobre sistemas de segurança e proteção de dados, sendo que: o primeiro slide deve fazer uma introdução às questões de segurança em sistemas digitais; o segundo slide deve apresentar os principais incidentes de segurança no Brasil no ano de 2020 (último ano de informações disponíveis); o terceiro slide deve descrever brevemente os principais mecanismos de defesa e proteção em SI (podendo utilizar mais de um slide); e o(s) slide(s) seguinte(s) deve(m) apresentar uma proposta de investimento em produtos/serviços de segurança da informação considerando que o investimento relaciona-se a uma empresa de médio porte.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 desafio será completo se você, no papel de gestor responsável, apresentar um orçamento referente ao investimento necessário para implantação desses mecanismos junto ao item 6.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73735"/>
            <a:ext cx="11049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571500" y="153159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CONSULTORIA INTERNA DE SI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95275" y="1960215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Gestão e Segurança da Informação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1809750" y="2821185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Estratégias de Proteção e Plano de Investimento em Cibersegurança para a Diretoria Executiva.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571500" y="456426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Disciplina: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Gestão de Sistemas de Informação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571500" y="504051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Foco: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Análise de Vulnerabilidades e Defesa Digital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14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71500" y="23145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Ameaças no Ambiente Corporativo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571500" y="290512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 segurança da informação não é apenas uma barreira técnica, mas um pilar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continuidade do negócio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 No cenário atual, os dados são o ativo mais valioso e vulnerável da empresa.</a:t>
            </a:r>
            <a:endParaRPr/>
          </a:p>
        </p:txBody>
      </p:sp>
      <p:pic>
        <p:nvPicPr>
          <p:cNvPr descr="image.png" id="126" name="Google Shape;1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24100"/>
            <a:ext cx="37147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723900" y="42386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762000" y="4238625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Aumento da dependência de sistemas em nuvem.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723900" y="46672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62000" y="46672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Complexidade na proteção de múltiplos dispositivos (IoT).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723900" y="50958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762000" y="5095875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Impacto financeiro e jurídico (LGPD) de vazamentos.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762000" y="571500"/>
            <a:ext cx="114014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Introdução às questões de segurança em sistemas digitais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110490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571500" y="2481262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Análise baseada nos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665.079 incidentes reportados ao CERT.br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durante o ano de 2020. O cenário revela uma predominância de ataques automatizados de varredura.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571500" y="57197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*O volume de Scans indica a constante busca de hackers por portas abertas e dispositivos vulneráveis (IoT).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762000" y="571500"/>
            <a:ext cx="114014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Os principais incidentes de segurança no Brasil em 2020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3492549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52575"/>
            <a:ext cx="3492549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52575"/>
            <a:ext cx="3492549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962025" y="1943100"/>
            <a:ext cx="27114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962025" y="28003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Scans (Varredura)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962025" y="3533775"/>
            <a:ext cx="2711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Busca por vulnerabilidades em serviços SSH, Telnet e dispositivos IoT. É a fase preliminar de qualquer invasão complexa.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4740324" y="1943100"/>
            <a:ext cx="27114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4740324" y="28003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Phishing (Fraude)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4740324" y="3533775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Criação de páginas falsas para roubo de credenciais bancárias e dados corporativos, com 96% dos casos em 2020.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8518624" y="1943100"/>
            <a:ext cx="2711499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8518624" y="28003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Ataques DoS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8518624" y="3533775"/>
            <a:ext cx="2711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Negação de Serviço por amplificação, visando paralisar servidores e sites, gerando interrupção total das atividades.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3 Incidentes de Maior Impacto</a:t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3175"/>
            <a:ext cx="5286375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43175"/>
            <a:ext cx="528637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962025" y="37242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Senhas e Autenticação</a:t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962025" y="44577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 primeira linha de defesa. Implementação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MFA (Autenticação de Múltiplos Fatores)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anula o impacto de senhas vazadas em 99% dos casos.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6724650" y="37242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Criptografia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6724650" y="44577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Garantia de confidencialidade. Protege dados em trânsito (SSL/TLS) e em repouso (BitLocker), tornando as informações ilegíveis para invasores.</a:t>
            </a:r>
            <a:endParaRPr/>
          </a:p>
        </p:txBody>
      </p:sp>
      <p:pic>
        <p:nvPicPr>
          <p:cNvPr descr="image.png" id="175" name="Google Shape;17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71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9718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762000" y="571500"/>
            <a:ext cx="114014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Os principais mecanismos de defesa e proteção em SI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7641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8593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571500" y="2233612"/>
            <a:ext cx="535066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Firewall de Próxima Geração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571500" y="2824162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Filtra o tráfego de entrada e saída baseado em regras rígidas de segurança. Atua como o "porteiro" da nossa rede corporativa.</a:t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571500" y="3967162"/>
            <a:ext cx="535066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IDS/IPS (Detecção de Intrusos)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571500" y="4557712"/>
            <a:ext cx="5095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Monitora padrões suspeitos e ataques conhecidos em tempo real, bloqueando atividades maliciosas antes que comprometam o sistema.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Infraestrutura: Firewall e IDS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571500" y="57340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*Valores baseados em uma infraestrutura para empresa de médio porte (até 100 usuários).</a:t>
            </a:r>
            <a:endParaRPr/>
          </a:p>
        </p:txBody>
      </p:sp>
      <p:graphicFrame>
        <p:nvGraphicFramePr>
          <p:cNvPr id="199" name="Google Shape;199;p24"/>
          <p:cNvGraphicFramePr/>
          <p:nvPr/>
        </p:nvGraphicFramePr>
        <p:xfrm>
          <a:off x="581025" y="1685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{2C6524B9-8A6D-4AEC-AD6C-FFA75EA17D49}</a:tableStyleId>
              </a:tblPr>
              <a:tblGrid>
                <a:gridCol w="3837375"/>
                <a:gridCol w="3858375"/>
                <a:gridCol w="3334200"/>
              </a:tblGrid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Mecanismo / Tecnologia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Fornecedor/Software Recomendado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Custo Estimado (Implantação)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Firewall NGFW (Hardware + Licença)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Fortinet / FortiGate 60F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R$ 22.500,00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Sistema IDS/IPS e Endpoint EDR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Sophos Intercept 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R$ 14.800,00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Gerenciamento de Identidade (MFA)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Microsoft Entra ID (Azure AD)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R$ 8.200,00/ano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Consultoria e Treinamento de Equipe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Especialista em Segurança Digital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R$ 12.000,00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INVESTIMENTO TOTAL INICIAL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---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R$ 57.500,00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24"/>
          <p:cNvSpPr/>
          <p:nvPr/>
        </p:nvSpPr>
        <p:spPr>
          <a:xfrm>
            <a:off x="581025" y="2976562"/>
            <a:ext cx="38373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4418409" y="2976562"/>
            <a:ext cx="3858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8276778" y="2976562"/>
            <a:ext cx="3334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581025" y="3614737"/>
            <a:ext cx="38373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4418409" y="3614737"/>
            <a:ext cx="3858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8276778" y="3614737"/>
            <a:ext cx="3334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581025" y="4252912"/>
            <a:ext cx="38373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4418409" y="4252912"/>
            <a:ext cx="3858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8276778" y="4252912"/>
            <a:ext cx="3334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581025" y="4891087"/>
            <a:ext cx="38373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418409" y="4891087"/>
            <a:ext cx="38583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8276778" y="4891087"/>
            <a:ext cx="3334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Apresentar uma proposta de investimento em SI</a:t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29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24112"/>
            <a:ext cx="3429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24112"/>
            <a:ext cx="3429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295275" y="1081087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que investir agora?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571500" y="520541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 investimento em segurança não é um gasto, é a blindagem do nosso futuro digital.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785812" y="2709862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Conformidade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857250" y="3300412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Evitar multas da LGPD que podem chegar a 2% do faturamento.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4595812" y="2709862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Continuidade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4667250" y="3300412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Garantir que a empresa não pare em caso de ataques DoS ou Ransomware.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8405812" y="2709862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Confiança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8477250" y="3300412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Proteger a reputação da marca e os dados sensíveis de nossos clientes.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571500" y="30670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5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1666875" y="32099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https://static.vecteezy.com/system/resources/previews/053/241/455/non_2x/digital-padlock-in-wireframe-style-and-dark-blue-background-is-suitable-as-an-illustration-of-data-security-systems-cyber-security-user-privacy-and-futuristic-technology-vector.jpg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1666875" y="36290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1666875" y="41600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https://www.paloaltonetworks.com/content/dam/pan/en_US/images/ngfw/product/01-physical-firewalls-family-shot.png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1666875" y="43934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www.paloaltonetworks.com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
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71" r:id="rId5"/>
    <p:sldId id="299" r:id="rId6"/>
    <p:sldId id="300" r:id="rId7"/>
    <p:sldId id="274" r:id="rId8"/>
    <p:sldId id="283" r:id="rId9"/>
    <p:sldId id="295" r:id="rId10"/>
    <p:sldId id="293" r:id="rId11"/>
    <p:sldId id="294" r:id="rId12"/>
    <p:sldId id="298" r:id="rId13"/>
    <p:sldId id="297" r:id="rId14"/>
    <p:sldId id="29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A5E"/>
    <a:srgbClr val="D8EAF8"/>
    <a:srgbClr val="F370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F8CD3-1CE8-5B5E-FAA1-E63AF80D8543}" v="40" dt="2026-04-08T15:38:02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79201" autoAdjust="0"/>
  </p:normalViewPr>
  <p:slideViewPr>
    <p:cSldViewPr snapToGrid="0">
      <p:cViewPr varScale="1">
        <p:scale>
          <a:sx n="90" d="100"/>
          <a:sy n="90" d="100"/>
        </p:scale>
        <p:origin x="13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ASP-EAD - Maria Edvania Santos Viana" userId="S::maria.sviana@unasp.edu.br::95fd0664-1cea-4ebc-b5fc-53a4cca181f3" providerId="AD" clId="Web-{3D5F8CD3-1CE8-5B5E-FAA1-E63AF80D8543}"/>
    <pc:docChg chg="addSld modSld sldOrd">
      <pc:chgData name="UNASP-EAD - Maria Edvania Santos Viana" userId="S::maria.sviana@unasp.edu.br::95fd0664-1cea-4ebc-b5fc-53a4cca181f3" providerId="AD" clId="Web-{3D5F8CD3-1CE8-5B5E-FAA1-E63AF80D8543}" dt="2026-04-08T15:38:02.877" v="35" actId="1076"/>
      <pc:docMkLst>
        <pc:docMk/>
      </pc:docMkLst>
      <pc:sldChg chg="addSp modSp new ord">
        <pc:chgData name="UNASP-EAD - Maria Edvania Santos Viana" userId="S::maria.sviana@unasp.edu.br::95fd0664-1cea-4ebc-b5fc-53a4cca181f3" providerId="AD" clId="Web-{3D5F8CD3-1CE8-5B5E-FAA1-E63AF80D8543}" dt="2026-04-08T15:37:49.049" v="32" actId="20577"/>
        <pc:sldMkLst>
          <pc:docMk/>
          <pc:sldMk cId="1568909743" sldId="299"/>
        </pc:sldMkLst>
        <pc:spChg chg="mod">
          <ac:chgData name="UNASP-EAD - Maria Edvania Santos Viana" userId="S::maria.sviana@unasp.edu.br::95fd0664-1cea-4ebc-b5fc-53a4cca181f3" providerId="AD" clId="Web-{3D5F8CD3-1CE8-5B5E-FAA1-E63AF80D8543}" dt="2026-04-08T15:35:33.949" v="4" actId="20577"/>
          <ac:spMkLst>
            <pc:docMk/>
            <pc:sldMk cId="1568909743" sldId="299"/>
            <ac:spMk id="2" creationId="{347C7392-335F-884B-87F2-E56ED0B3746F}"/>
          </ac:spMkLst>
        </pc:spChg>
        <pc:spChg chg="add mod">
          <ac:chgData name="UNASP-EAD - Maria Edvania Santos Viana" userId="S::maria.sviana@unasp.edu.br::95fd0664-1cea-4ebc-b5fc-53a4cca181f3" providerId="AD" clId="Web-{3D5F8CD3-1CE8-5B5E-FAA1-E63AF80D8543}" dt="2026-04-08T15:37:49.049" v="32" actId="20577"/>
          <ac:spMkLst>
            <pc:docMk/>
            <pc:sldMk cId="1568909743" sldId="299"/>
            <ac:spMk id="3" creationId="{53BABE7E-00A1-CD05-84F7-842BCFF3E90B}"/>
          </ac:spMkLst>
        </pc:spChg>
      </pc:sldChg>
      <pc:sldChg chg="modSp add replId">
        <pc:chgData name="UNASP-EAD - Maria Edvania Santos Viana" userId="S::maria.sviana@unasp.edu.br::95fd0664-1cea-4ebc-b5fc-53a4cca181f3" providerId="AD" clId="Web-{3D5F8CD3-1CE8-5B5E-FAA1-E63AF80D8543}" dt="2026-04-08T15:38:02.877" v="35" actId="1076"/>
        <pc:sldMkLst>
          <pc:docMk/>
          <pc:sldMk cId="322825880" sldId="300"/>
        </pc:sldMkLst>
        <pc:spChg chg="mod">
          <ac:chgData name="UNASP-EAD - Maria Edvania Santos Viana" userId="S::maria.sviana@unasp.edu.br::95fd0664-1cea-4ebc-b5fc-53a4cca181f3" providerId="AD" clId="Web-{3D5F8CD3-1CE8-5B5E-FAA1-E63AF80D8543}" dt="2026-04-08T15:38:02.877" v="35" actId="1076"/>
          <ac:spMkLst>
            <pc:docMk/>
            <pc:sldMk cId="322825880" sldId="300"/>
            <ac:spMk id="3" creationId="{6AB00BCF-7D3D-0389-8A8E-1102E41195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17AB9-C9A2-47A3-8A57-0337EA252FD0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B26A4-C0F3-4E98-B378-A831AD406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952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EB26A4-C0F3-4E98-B378-A831AD4060B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875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 userDrawn="1"/>
        </p:nvSpPr>
        <p:spPr>
          <a:xfrm>
            <a:off x="-1" y="6786000"/>
            <a:ext cx="12192000" cy="72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 userDrawn="1"/>
        </p:nvSpPr>
        <p:spPr>
          <a:xfrm>
            <a:off x="-1" y="0"/>
            <a:ext cx="12192000" cy="72000"/>
          </a:xfrm>
          <a:prstGeom prst="rect">
            <a:avLst/>
          </a:prstGeom>
          <a:solidFill>
            <a:srgbClr val="F37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209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1070919" y="1021492"/>
            <a:ext cx="10091351" cy="5025081"/>
          </a:xfrm>
          <a:prstGeom prst="rect">
            <a:avLst/>
          </a:prstGeom>
          <a:noFill/>
          <a:ln w="38100">
            <a:solidFill>
              <a:srgbClr val="F370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Texto 14"/>
          <p:cNvSpPr>
            <a:spLocks noGrp="1"/>
          </p:cNvSpPr>
          <p:nvPr>
            <p:ph type="body" sz="quarter" idx="15"/>
          </p:nvPr>
        </p:nvSpPr>
        <p:spPr>
          <a:xfrm>
            <a:off x="1491049" y="1952368"/>
            <a:ext cx="9382897" cy="3369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Flexo Medium" pitchFamily="50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820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1070919" y="1021492"/>
            <a:ext cx="10091351" cy="5025081"/>
          </a:xfrm>
          <a:prstGeom prst="rect">
            <a:avLst/>
          </a:prstGeom>
          <a:noFill/>
          <a:ln w="38100">
            <a:solidFill>
              <a:srgbClr val="F370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Texto 14"/>
          <p:cNvSpPr>
            <a:spLocks noGrp="1"/>
          </p:cNvSpPr>
          <p:nvPr>
            <p:ph type="body" sz="quarter" idx="15" hasCustomPrompt="1"/>
          </p:nvPr>
        </p:nvSpPr>
        <p:spPr>
          <a:xfrm>
            <a:off x="1491049" y="1320600"/>
            <a:ext cx="9382897" cy="3369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Flexo Medium" pitchFamily="50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08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D8EAF8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 userDrawn="1"/>
        </p:nvSpPr>
        <p:spPr>
          <a:xfrm>
            <a:off x="-1" y="6786000"/>
            <a:ext cx="12192000" cy="72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 userDrawn="1"/>
        </p:nvSpPr>
        <p:spPr>
          <a:xfrm>
            <a:off x="-1" y="0"/>
            <a:ext cx="12192000" cy="72000"/>
          </a:xfrm>
          <a:prstGeom prst="rect">
            <a:avLst/>
          </a:prstGeom>
          <a:solidFill>
            <a:srgbClr val="F37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511270" y="341098"/>
            <a:ext cx="10865183" cy="1116998"/>
          </a:xfrm>
          <a:prstGeom prst="rect">
            <a:avLst/>
          </a:prstGeom>
        </p:spPr>
        <p:txBody>
          <a:bodyPr anchor="ctr"/>
          <a:lstStyle>
            <a:lvl1pPr algn="ctr">
              <a:defRPr sz="3400" b="1">
                <a:solidFill>
                  <a:srgbClr val="103A5E"/>
                </a:solidFill>
                <a:latin typeface="Flexo Medium" pitchFamily="50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1744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D8EAF8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-1" y="6786000"/>
            <a:ext cx="12192000" cy="72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 userDrawn="1"/>
        </p:nvSpPr>
        <p:spPr>
          <a:xfrm>
            <a:off x="-1" y="0"/>
            <a:ext cx="12192000" cy="72000"/>
          </a:xfrm>
          <a:prstGeom prst="rect">
            <a:avLst/>
          </a:prstGeom>
          <a:solidFill>
            <a:srgbClr val="F37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Texto 14"/>
          <p:cNvSpPr>
            <a:spLocks noGrp="1"/>
          </p:cNvSpPr>
          <p:nvPr>
            <p:ph type="body" sz="quarter" idx="15"/>
          </p:nvPr>
        </p:nvSpPr>
        <p:spPr>
          <a:xfrm>
            <a:off x="511271" y="1944130"/>
            <a:ext cx="11170508" cy="415598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103A5E"/>
                </a:solidFill>
                <a:latin typeface="Flexo Medium" pitchFamily="50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511270" y="341098"/>
            <a:ext cx="10865183" cy="1116998"/>
          </a:xfrm>
          <a:prstGeom prst="rect">
            <a:avLst/>
          </a:prstGeom>
        </p:spPr>
        <p:txBody>
          <a:bodyPr anchor="ctr"/>
          <a:lstStyle>
            <a:lvl1pPr algn="ctr">
              <a:defRPr sz="3400" b="1">
                <a:solidFill>
                  <a:srgbClr val="103A5E"/>
                </a:solidFill>
                <a:latin typeface="Flexo Medium" pitchFamily="50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9100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D8EAF8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-1" y="6786000"/>
            <a:ext cx="12192000" cy="72000"/>
          </a:xfrm>
          <a:prstGeom prst="rect">
            <a:avLst/>
          </a:prstGeom>
          <a:solidFill>
            <a:srgbClr val="10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-1" y="0"/>
            <a:ext cx="12192000" cy="72000"/>
          </a:xfrm>
          <a:prstGeom prst="rect">
            <a:avLst/>
          </a:prstGeom>
          <a:solidFill>
            <a:srgbClr val="F37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Texto 14"/>
          <p:cNvSpPr>
            <a:spLocks noGrp="1"/>
          </p:cNvSpPr>
          <p:nvPr>
            <p:ph type="body" sz="quarter" idx="15"/>
          </p:nvPr>
        </p:nvSpPr>
        <p:spPr>
          <a:xfrm>
            <a:off x="511271" y="1458098"/>
            <a:ext cx="11170508" cy="41559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800">
                <a:solidFill>
                  <a:srgbClr val="103A5E"/>
                </a:solidFill>
                <a:latin typeface="Flexo Medium" pitchFamily="50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0701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EAF8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19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1" r:id="rId2"/>
    <p:sldLayoutId id="2147483663" r:id="rId3"/>
    <p:sldLayoutId id="2147483652" r:id="rId4"/>
    <p:sldLayoutId id="2147483650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ert.br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CC0971A8-BACC-4776-A3B2-2214B253B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219665"/>
              </p:ext>
            </p:extLst>
          </p:nvPr>
        </p:nvGraphicFramePr>
        <p:xfrm>
          <a:off x="2032000" y="2671967"/>
          <a:ext cx="8128000" cy="16855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200285">
                  <a:extLst>
                    <a:ext uri="{9D8B030D-6E8A-4147-A177-3AD203B41FA5}">
                      <a16:colId xmlns:a16="http://schemas.microsoft.com/office/drawing/2014/main" val="570954135"/>
                    </a:ext>
                  </a:extLst>
                </a:gridCol>
                <a:gridCol w="5927715">
                  <a:extLst>
                    <a:ext uri="{9D8B030D-6E8A-4147-A177-3AD203B41FA5}">
                      <a16:colId xmlns:a16="http://schemas.microsoft.com/office/drawing/2014/main" val="1506763544"/>
                    </a:ext>
                  </a:extLst>
                </a:gridCol>
              </a:tblGrid>
              <a:tr h="576774">
                <a:tc>
                  <a:txBody>
                    <a:bodyPr/>
                    <a:lstStyle/>
                    <a:p>
                      <a:r>
                        <a:rPr lang="pt-BR" dirty="0">
                          <a:latin typeface="+mn-lt"/>
                          <a:cs typeface="Arial" panose="020B0604020202020204" pitchFamily="34" charset="0"/>
                        </a:rPr>
                        <a:t>Disciplina: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+mn-lt"/>
                          <a:cs typeface="Arial" panose="020B0604020202020204" pitchFamily="34" charset="0"/>
                        </a:rPr>
                        <a:t>Gestão de Sistemas de Informação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657132"/>
                  </a:ext>
                </a:extLst>
              </a:tr>
              <a:tr h="4686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dirty="0">
                          <a:solidFill>
                            <a:srgbClr val="103A5E"/>
                          </a:solidFill>
                          <a:latin typeface="+mn-lt"/>
                          <a:cs typeface="Arial"/>
                        </a:rPr>
                        <a:t>Observação: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pt-BR" dirty="0">
                          <a:latin typeface="+mn-lt"/>
                          <a:cs typeface="Arial"/>
                        </a:rPr>
                        <a:t>Siga as instruções disponibilizadas no desafio para preencher os slides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053882"/>
                  </a:ext>
                </a:extLst>
              </a:tr>
              <a:tr h="468646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103A5E"/>
                          </a:solidFill>
                          <a:latin typeface="+mn-lt"/>
                          <a:cs typeface="Arial" panose="020B0604020202020204" pitchFamily="34" charset="0"/>
                        </a:rPr>
                        <a:t>Aluno: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731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030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C7392-335F-884B-87F2-E56ED0B3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pt-BR">
                <a:latin typeface="Flexo Medium"/>
              </a:rPr>
              <a:t>Instruções</a:t>
            </a:r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BABE7E-00A1-CD05-84F7-842BCFF3E90B}"/>
              </a:ext>
            </a:extLst>
          </p:cNvPr>
          <p:cNvSpPr txBox="1"/>
          <p:nvPr/>
        </p:nvSpPr>
        <p:spPr>
          <a:xfrm>
            <a:off x="762001" y="1454728"/>
            <a:ext cx="10356272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0" i="0">
                <a:solidFill>
                  <a:srgbClr val="000000"/>
                </a:solidFill>
                <a:latin typeface="Calibri"/>
              </a:rPr>
              <a:t>Para cumprir o desafio, siga este passo a passo:</a:t>
            </a:r>
            <a:r>
              <a:rPr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lang="pt-BR" sz="2000" dirty="0"/>
          </a:p>
          <a:p>
            <a:pPr marL="285750" indent="-285750" algn="just">
              <a:buFont typeface="Arial"/>
              <a:buChar char="•"/>
            </a:pP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Em uma reunião de gestores de sua empresa, os diretores apresentam preocupações sobre segurança em SI, e o assunto acaba por determinar uma nova tarefa: esclarecer os problemas mais comuns de segurança da informação e tecnologias ou mecanismos utilizados pelas empresas para proteção digital. Considere que você foi convidado pela diretoria de sua empresa para elaborar um breve estudo em formato de consultoria interna e uma rápida apresentação sobre os principais problemas relacionados à segurança em SI. </a:t>
            </a:r>
          </a:p>
          <a:p>
            <a:pPr marL="285750" indent="-285750" algn="just">
              <a:buFont typeface="Arial"/>
              <a:buChar char="•"/>
            </a:pPr>
            <a:r>
              <a:rPr lang="pt-BR" sz="2000" dirty="0">
                <a:highlight>
                  <a:srgbClr val="FFFFFF"/>
                </a:highlight>
                <a:ea typeface="Calibri"/>
                <a:cs typeface="Calibri"/>
              </a:rPr>
              <a:t>Elabore uma apresentação em formato de </a:t>
            </a:r>
            <a:r>
              <a:rPr lang="pt-BR" sz="2000" i="1" dirty="0" err="1">
                <a:highlight>
                  <a:srgbClr val="FFFFFF"/>
                </a:highlight>
                <a:ea typeface="Calibri"/>
                <a:cs typeface="Calibri"/>
              </a:rPr>
              <a:t>pitch</a:t>
            </a:r>
            <a:r>
              <a:rPr lang="pt-BR" sz="2000" dirty="0">
                <a:highlight>
                  <a:srgbClr val="FFFFFF"/>
                </a:highlight>
                <a:ea typeface="Calibri"/>
                <a:cs typeface="Calibri"/>
              </a:rPr>
              <a:t> para a diretoria contextualizando os problemas e mecanismos de solução, para que a empresa possa investir em melhoria na proteção e segurança de seus SI.</a:t>
            </a:r>
          </a:p>
          <a:p>
            <a:pPr marL="285750" indent="-285750" algn="just">
              <a:buFont typeface="Arial"/>
              <a:buChar char="•"/>
            </a:pP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Acesse o site do CERT (Centro de Estudos, resposta e tratamento de incidentes de segurança no Brasil). Disponível em: </a:t>
            </a:r>
            <a:r>
              <a:rPr lang="pt-BR" sz="2000" u="sng" dirty="0">
                <a:highlight>
                  <a:srgbClr val="FFFFFF"/>
                </a:highlight>
                <a:ea typeface="Calibri"/>
                <a:cs typeface="Calibri"/>
                <a:hlinkClick r:id="rId2"/>
              </a:rPr>
              <a:t>https://www.cert.br/</a:t>
            </a: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. Acesso em: 08 abr. 2026). Em seguida, faça uma análise textual das estatísticas sobre os incidentes reportados referentes à segurança da informação.</a:t>
            </a:r>
          </a:p>
          <a:p>
            <a:endParaRPr lang="pt-BR" sz="2000" dirty="0">
              <a:ea typeface="Calibri"/>
              <a:cs typeface="Calibri"/>
            </a:endParaRPr>
          </a:p>
          <a:p>
            <a:pPr algn="ctr"/>
            <a:endParaRPr lang="pt-BR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890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6179-72A1-04EE-C62B-F56B2AC6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FC700-14AF-AEB0-8FB8-DC99E8E6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pt-BR">
                <a:latin typeface="Flexo Medium"/>
              </a:rPr>
              <a:t>Instruções</a:t>
            </a:r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B00BCF-7D3D-0389-8A8E-1102E411955D}"/>
              </a:ext>
            </a:extLst>
          </p:cNvPr>
          <p:cNvSpPr txBox="1"/>
          <p:nvPr/>
        </p:nvSpPr>
        <p:spPr>
          <a:xfrm>
            <a:off x="762001" y="1304637"/>
            <a:ext cx="10356272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Avalie e apresente três tipos de incidentes mais comuns e de maior impacto dentro dos SI e elenque os tipos de ataques reportados no ano de 2019 ou 2020 (conforme disponibilidade de dados).</a:t>
            </a:r>
            <a:endParaRPr lang="pt-BR"/>
          </a:p>
          <a:p>
            <a:pPr marL="285750" indent="-285750" algn="just">
              <a:buFont typeface="Arial"/>
              <a:buChar char="•"/>
            </a:pP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Faça uma pesquisa em sites de empresas especializadas em segurança da informação (também chamada de segurança digital ou segurança cibernética) para conhecer as tecnologias de proteção a sistemas de informações: senhas, criptografia, </a:t>
            </a:r>
            <a:r>
              <a:rPr lang="pt-BR" sz="2000" i="1">
                <a:highlight>
                  <a:srgbClr val="FFFFFF"/>
                </a:highlight>
                <a:ea typeface="Calibri"/>
                <a:cs typeface="Calibri"/>
              </a:rPr>
              <a:t>firewall</a:t>
            </a: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 e sistemas de detecção de intrusos.</a:t>
            </a:r>
            <a:endParaRPr lang="pt-BR"/>
          </a:p>
          <a:p>
            <a:pPr marL="285750" indent="-285750" algn="just">
              <a:buFont typeface="Arial"/>
              <a:buChar char="•"/>
            </a:pP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Elabore uma breve apresentação com pelo menos 4 slides (no máximo 8) sobre sistemas de segurança e proteção de dados, sendo que: o primeiro slide deve fazer uma introdução às questões de segurança em sistemas digitais; o segundo slide deve apresentar os principais incidentes de segurança no Brasil no ano de 2020 (último ano de informações disponíveis); o terceiro slide deve descrever brevemente os principais mecanismos de defesa e proteção em SI (podendo utilizar mais de um slide); e o(s) slide(s) seguinte(s) deve(m) apresentar uma proposta de investimento em produtos/serviços de segurança da informação considerando que o investimento relaciona-se a uma empresa de médio porte. </a:t>
            </a:r>
            <a:endParaRPr lang="pt-BR"/>
          </a:p>
          <a:p>
            <a:pPr marL="285750" indent="-285750" algn="just">
              <a:buFont typeface="Arial"/>
              <a:buChar char="•"/>
            </a:pPr>
            <a:r>
              <a:rPr lang="pt-BR" sz="2000">
                <a:highlight>
                  <a:srgbClr val="FFFFFF"/>
                </a:highlight>
                <a:ea typeface="Calibri"/>
                <a:cs typeface="Calibri"/>
              </a:rPr>
              <a:t>O desafio será completo se você, no papel de gestor responsável, apresentar um orçamento referente ao investimento necessário para implantação desses mecanismos junto ao item 6.</a:t>
            </a:r>
            <a:endParaRPr lang="pt-BR"/>
          </a:p>
          <a:p>
            <a:endParaRPr lang="pt-BR" sz="2000" dirty="0">
              <a:ea typeface="Calibri"/>
              <a:cs typeface="Calibri"/>
            </a:endParaRPr>
          </a:p>
          <a:p>
            <a:pPr algn="ctr"/>
            <a:endParaRPr lang="pt-BR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82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31BFB-A444-44EA-88C9-DE5BF8AB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Introdução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pt-BR" sz="3600" dirty="0"/>
              <a:t>às questões de segurança em sistemas digitais</a:t>
            </a:r>
          </a:p>
        </p:txBody>
      </p:sp>
    </p:spTree>
    <p:extLst>
      <p:ext uri="{BB962C8B-B14F-4D97-AF65-F5344CB8AC3E}">
        <p14:creationId xmlns:p14="http://schemas.microsoft.com/office/powerpoint/2010/main" val="34489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31BFB-A444-44EA-88C9-DE5BF8AB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principais incidentes de segurança no Brasil em 2020</a:t>
            </a:r>
          </a:p>
        </p:txBody>
      </p:sp>
    </p:spTree>
    <p:extLst>
      <p:ext uri="{BB962C8B-B14F-4D97-AF65-F5344CB8AC3E}">
        <p14:creationId xmlns:p14="http://schemas.microsoft.com/office/powerpoint/2010/main" val="85476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75239-D361-D0CA-EB6D-9EDAD417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29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31BFB-A444-44EA-88C9-DE5BF8AB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principais mecanismos de defesa e proteção em SI</a:t>
            </a:r>
          </a:p>
        </p:txBody>
      </p:sp>
    </p:spTree>
    <p:extLst>
      <p:ext uri="{BB962C8B-B14F-4D97-AF65-F5344CB8AC3E}">
        <p14:creationId xmlns:p14="http://schemas.microsoft.com/office/powerpoint/2010/main" val="179244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31BFB-A444-44EA-88C9-DE5BF8AB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Apresentar uma proposta de investimento em produtos/serviços de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98223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F0DFA-2F04-7763-B867-3C16AB25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285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F33DC-87F8-61CC-32E8-27CA46BD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69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D20C1-B08F-4457-8480-A4016AED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532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6548e0-28ad-4ceb-bbdd-766ee02d8bf1">
      <Terms xmlns="http://schemas.microsoft.com/office/infopath/2007/PartnerControls"/>
    </lcf76f155ced4ddcb4097134ff3c332f>
    <TaxCatchAll xmlns="0a094611-4a2d-43e4-bba7-139d810823c4" xsi:nil="true"/>
    <MediaLengthInSeconds xmlns="bb6548e0-28ad-4ceb-bbdd-766ee02d8bf1" xsi:nil="true"/>
    <_Flow_SignoffStatus xmlns="bb6548e0-28ad-4ceb-bbdd-766ee02d8bf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284AA26EABC914D95019C7BD81C3DBB" ma:contentTypeVersion="19" ma:contentTypeDescription="Crie um novo documento." ma:contentTypeScope="" ma:versionID="af1b297c637592bdd8a86323e8ea8b50">
  <xsd:schema xmlns:xsd="http://www.w3.org/2001/XMLSchema" xmlns:xs="http://www.w3.org/2001/XMLSchema" xmlns:p="http://schemas.microsoft.com/office/2006/metadata/properties" xmlns:ns2="bb6548e0-28ad-4ceb-bbdd-766ee02d8bf1" xmlns:ns3="0a094611-4a2d-43e4-bba7-139d810823c4" xmlns:ns4="71bcbe10-9af8-44e9-87ca-7afb9077cff7" targetNamespace="http://schemas.microsoft.com/office/2006/metadata/properties" ma:root="true" ma:fieldsID="134f8fe854a74fe3db5e51481a47fd33" ns2:_="" ns3:_="" ns4:_="">
    <xsd:import namespace="bb6548e0-28ad-4ceb-bbdd-766ee02d8bf1"/>
    <xsd:import namespace="0a094611-4a2d-43e4-bba7-139d810823c4"/>
    <xsd:import namespace="71bcbe10-9af8-44e9-87ca-7afb9077cff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4:SharedWithUsers" minOccurs="0"/>
                <xsd:element ref="ns4:SharedWithDetails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548e0-28ad-4ceb-bbdd-766ee02d8bf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Marcações de imagem" ma:readOnly="false" ma:fieldId="{5cf76f15-5ced-4ddc-b409-7134ff3c332f}" ma:taxonomyMulti="true" ma:sspId="8e8593b7-542e-4346-9e98-482410f851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_Flow_SignoffStatus" ma:index="23" nillable="true" ma:displayName="Status de liberação" ma:internalName="Status_x0020_de_x0020_libera_x00e7__x00e3_o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94611-4a2d-43e4-bba7-139d810823c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be08238-f4e6-4dc8-9862-88d15b56772d}" ma:internalName="TaxCatchAll" ma:showField="CatchAllData" ma:web="0a094611-4a2d-43e4-bba7-139d810823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cbe10-9af8-44e9-87ca-7afb9077cff7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59BFF8-884C-49D5-9E0A-052929FA5F66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4c32ea8e-1daf-4cf5-8386-e2df3e08b9e2"/>
    <ds:schemaRef ds:uri="http://purl.org/dc/terms/"/>
    <ds:schemaRef ds:uri="bb6548e0-28ad-4ceb-bbdd-766ee02d8bf1"/>
    <ds:schemaRef ds:uri="0a094611-4a2d-43e4-bba7-139d810823c4"/>
    <ds:schemaRef ds:uri="71bcbe10-9af8-44e9-87ca-7afb9077cff7"/>
  </ds:schemaRefs>
</ds:datastoreItem>
</file>

<file path=customXml/itemProps2.xml><?xml version="1.0" encoding="utf-8"?>
<ds:datastoreItem xmlns:ds="http://schemas.openxmlformats.org/officeDocument/2006/customXml" ds:itemID="{13B634AE-106F-46CE-A63F-1D43A0F806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6548e0-28ad-4ceb-bbdd-766ee02d8bf1"/>
    <ds:schemaRef ds:uri="0a094611-4a2d-43e4-bba7-139d810823c4"/>
    <ds:schemaRef ds:uri="71bcbe10-9af8-44e9-87ca-7afb9077cf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4CEF12-4C32-4B3A-83EC-CCBA447497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60</Words>
  <Application>Microsoft Office PowerPoint</Application>
  <PresentationFormat>Widescreen</PresentationFormat>
  <Paragraphs>10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Apresentação do PowerPoint</vt:lpstr>
      <vt:lpstr>Instruções</vt:lpstr>
      <vt:lpstr>Instruções</vt:lpstr>
      <vt:lpstr>Introdução às questões de segurança em sistemas digitais</vt:lpstr>
      <vt:lpstr>Os principais incidentes de segurança no Brasil em 2020</vt:lpstr>
      <vt:lpstr>Apresentação do PowerPoint</vt:lpstr>
      <vt:lpstr>Os principais mecanismos de defesa e proteção em SI</vt:lpstr>
      <vt:lpstr>Apresentar uma proposta de investimento em produtos/serviços de segurança da informação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UNASP - Kenny Zukowski</dc:creator>
  <cp:lastModifiedBy>UNASP - Gabriel Alves da Costa</cp:lastModifiedBy>
  <cp:revision>84</cp:revision>
  <dcterms:created xsi:type="dcterms:W3CDTF">2019-09-30T13:09:46Z</dcterms:created>
  <dcterms:modified xsi:type="dcterms:W3CDTF">2026-04-08T15:38:04Z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0x010100D284AA26EABC914D95019C7BD81C3DBB</vt:lpwstr>
  </property>
  <property fmtid="{D5CDD505-2E9C-101B-9397-08002B2CF9AE}" pid="3" name="Order">
    <vt:r8>13390200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